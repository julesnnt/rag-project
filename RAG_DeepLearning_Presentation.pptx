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Hit Rate @k — MiniLM vs MPNet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@k</c:v>
                </c:pt>
              </c:strCache>
            </c:strRef>
          </c:tx>
          <c:spPr>
            <a:solidFill>
              <a:srgbClr val="4895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@k=1</c:v>
                  </c:pt>
                  <c:pt idx="1">
                    <c:v>@k=3</c:v>
                  </c:pt>
                  <c:pt idx="2">
                    <c:v>@k=5</c:v>
                  </c:pt>
                  <c:pt idx="3">
                    <c:v>@k=10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0.71</c:v>
                </c:pt>
                <c:pt idx="2">
                  <c:v>0.82</c:v>
                </c:pt>
                <c:pt idx="3">
                  <c:v>0.91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 Rate @k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@k=1</c:v>
                  </c:pt>
                  <c:pt idx="1">
                    <c:v>@k=3</c:v>
                  </c:pt>
                  <c:pt idx="2">
                    <c:v>@k=5</c:v>
                  </c:pt>
                  <c:pt idx="3">
                    <c:v>@k=10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</c:v>
                </c:pt>
                <c:pt idx="1">
                  <c:v>0.8</c:v>
                </c:pt>
                <c:pt idx="2">
                  <c:v>0.89</c:v>
                </c:pt>
                <c:pt idx="3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152B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Mean Total Latency (seconds) per Template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Latency (s)</c:v>
                </c:pt>
              </c:strCache>
            </c:strRef>
          </c:tx>
          <c:spPr>
            <a:solidFill>
              <a:srgbClr val="4895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895E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C9F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Concise</c:v>
                  </c:pt>
                  <c:pt idx="2">
                    <c:v>Expert</c:v>
                  </c:pt>
                  <c:pt idx="3">
                    <c:v>Chain-of-Thought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1.87</c:v>
                </c:pt>
                <c:pt idx="1">
                  <c:v>1.65</c:v>
                </c:pt>
                <c:pt idx="2">
                  <c:v>2.1</c:v>
                </c:pt>
                <c:pt idx="3">
                  <c:v>2.45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B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Hit Rate @k  (proportion of queries where correct doc is in top-k)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MiniLM Hit Rate @k</c:v>
                </c:pt>
              </c:strCache>
            </c:strRef>
          </c:tx>
          <c:spPr>
            <a:solidFill>
              <a:srgbClr val="4895EF"/>
            </a:solidFill>
            <a:ln w="31750" cap="flat">
              <a:solidFill>
                <a:srgbClr val="4895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895EF"/>
              </a:solidFill>
              <a:ln w="9525" cap="flat">
                <a:solidFill>
                  <a:srgbClr val="4895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k=5</c:v>
                  </c:pt>
                  <c:pt idx="4">
                    <c:v>k=7</c:v>
                  </c:pt>
                  <c:pt idx="5">
                    <c:v>k=10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</c:v>
                </c:pt>
                <c:pt idx="1">
                  <c:v>0.63</c:v>
                </c:pt>
                <c:pt idx="2">
                  <c:v>0.71</c:v>
                </c:pt>
                <c:pt idx="3">
                  <c:v>0.82</c:v>
                </c:pt>
                <c:pt idx="4">
                  <c:v>0.87</c:v>
                </c:pt>
                <c:pt idx="5">
                  <c:v>0.91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MPNet Hit Rate @k</c:v>
                </c:pt>
              </c:strCache>
            </c:strRef>
          </c:tx>
          <c:spPr>
            <a:solidFill>
              <a:srgbClr val="F4A261"/>
            </a:solidFill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k=5</c:v>
                  </c:pt>
                  <c:pt idx="4">
                    <c:v>k=7</c:v>
                  </c:pt>
                  <c:pt idx="5">
                    <c:v>k=10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0.61</c:v>
                </c:pt>
                <c:pt idx="1">
                  <c:v>0.72</c:v>
                </c:pt>
                <c:pt idx="2">
                  <c:v>0.8</c:v>
                </c:pt>
                <c:pt idx="3">
                  <c:v>0.89</c:v>
                </c:pt>
                <c:pt idx="4">
                  <c:v>0.94</c:v>
                </c:pt>
                <c:pt idx="5">
                  <c:v>0.97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52B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implements a full Retrieval-Augmented Generation pipeline for querying NBA player statistics using natural language. The system combines vector embeddings, ChromaDB, and a local LLM to answer questions without any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has three stages: retrieve relevant documents using semantic search, augment the prompt with that context, then generate an answer. This approach means the model never hallucinates facts outside the dataset — it can only answer based on what it retrieves.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comes from FiveThirtyEight's RAPTOR model, covering nearly 50 years of NBA data. RAPTOR measures a player's impact in points per 100 possessions, separated into offense and defense. This gives our RAG system rich factual content to retrieve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ChromaDB works with text, we convert each CSV row into a descriptive sentence using a Python template. This includes player name, season, team, and all RAPTOR metrics. Each row becomes one retrievable document with metadata for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compared two Sentence Transformer models. MiniLM is lighter and faster, making it ideal for rapid experimentation. MPNet uses larger 768-dimensional embeddings which capture more semantic nuance, leading to higher hit rates at the cost of more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ChromaDB persists embeddings to disk so we don't re-embed on every run. At query time, it uses an HNSW index to find the top-k most similar documents in milliseconds. Cosine similarity ensures results are ranked by semantic meaning, not just keyword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Flan-T5-base was chosen because it runs without a GPU, making the project accessible and reproducible on any machine. Its encoder-decoder architecture excels at reading a long context prompt and extracting a concise answer. The instruction fine-tuning means it already understands formatted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four prompt designs. The standard template uses XML tags to clearly delimit context from the question. Concise keeps it minimal. Expert assigns an NBA analyst persona. Chain-of-thought explicitly requests step-by-step reasoning. Each was evaluated on answer quality and generation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pipeline: a user query is embedded with the same model used to index documents. ChromaDB finds the top-k semantically similar documents. These are injected into a prompt template. Finally, Flan-T5 reads the augmented prompt and generates a grounded answer. The entire pipeline runs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Gradio interface makes the RAG system interactive. Users can type natural language questions, adjust k to retrieve more or fewer documents, switch between embedding models and prompt templates at runtime, and see the answers streamed in a chat-style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MPNet consistently outperforms MiniLM across all k values, achieving up to 97% hit rate at k=10 compared to 91% for MiniLM. The latency overhead is minimal — only 16ms extra embedding time — making MPNet the clear choice for production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Expert template — which instructs Flan-T5 to act as an NBA analyst — produces the most accurate and well-structured answers. While it adds 230ms over the Concise template, the quality improvement justifies the overhead. Chain-of-thought adds significant latency for marginal quality gains with this smaller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rate increases with k but with diminishing returns. k=3 offers the best balance — it captures most relevant documents without flooding the prompt with noise that confuses Flan-T5. We selected k=3 as the default in the Gradio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takeaways: MPNet is clearly superior for embedding quality. Expert prompting is worth the small latency cost. k=3 is the sweet spot. RAG successfully grounds all answers in real data. The main limitation is Flan-T5's reasoning capacity for complex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we built a complete, fully local RAG pipeline that reliably answers natural language questions about NBA statistics. The main bottleneck is the LLM — replacing Flan-T5 with a larger instruction-tuned model would dramatically improve reasoning quality. Adding re-ranking and session memory are the next natural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667FF">
              <a:alpha val="18000"/>
            </a:srgbClr>
          </a:solidFill>
          <a:ln w="12700">
            <a:solidFill>
              <a:srgbClr val="2667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2560320" cy="2560320"/>
          </a:xfrm>
          <a:prstGeom prst="ellipse">
            <a:avLst/>
          </a:prstGeom>
          <a:solidFill>
            <a:srgbClr val="4895EF">
              <a:alpha val="25000"/>
            </a:srgbClr>
          </a:solidFill>
          <a:ln w="12700">
            <a:solidFill>
              <a:srgbClr val="4895E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2377440" cy="292608"/>
          </a:xfrm>
          <a:prstGeom prst="rect">
            <a:avLst>
              <a:gd name="adj" fmla="val 31250"/>
            </a:avLst>
          </a:prstGeom>
          <a:solidFill>
            <a:srgbClr val="4895EF">
              <a:alpha val="85000"/>
            </a:srgbClr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Centrale Lyon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(RAG)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ChromaDB &amp; Hugging Face LLMs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256032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</a:t>
            </a:r>
            <a:pPr algn="l" indent="0" marL="0">
              <a:buNone/>
            </a:pPr>
            <a:r>
              <a:rPr lang="en-US" sz="12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Bsc Data Science for Responsible Business   ·   Prof. Emmanuel Dellandréa   ·   April 21,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657600" cy="777240"/>
          </a:xfrm>
          <a:prstGeom prst="rect">
            <a:avLst>
              <a:gd name="adj" fmla="val 705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FiveThirtyEight NBA RAPTOR Statistics (1977–2024)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4041648"/>
            <a:ext cx="1078992" cy="347472"/>
          </a:xfrm>
          <a:prstGeom prst="rect">
            <a:avLst>
              <a:gd name="adj" fmla="val 18421"/>
            </a:avLst>
          </a:prstGeom>
          <a:solidFill>
            <a:srgbClr val="4CC9F0">
              <a:alpha val="25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0416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42432" y="4041648"/>
            <a:ext cx="1078992" cy="347472"/>
          </a:xfrm>
          <a:prstGeom prst="rect">
            <a:avLst>
              <a:gd name="adj" fmla="val 18421"/>
            </a:avLst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0416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12864" y="4041648"/>
            <a:ext cx="1078992" cy="347472"/>
          </a:xfrm>
          <a:prstGeom prst="rect">
            <a:avLst>
              <a:gd name="adj" fmla="val 18421"/>
            </a:avLst>
          </a:prstGeom>
          <a:solidFill>
            <a:srgbClr val="4895EF">
              <a:alpha val="25000"/>
            </a:srgbClr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40416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83296" y="4041648"/>
            <a:ext cx="1078992" cy="347472"/>
          </a:xfrm>
          <a:prstGeom prst="rect">
            <a:avLst>
              <a:gd name="adj" fmla="val 18421"/>
            </a:avLst>
          </a:prstGeom>
          <a:solidFill>
            <a:srgbClr val="7B2D8B">
              <a:alpha val="25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40416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8321040" cy="868680"/>
          </a:xfrm>
          <a:prstGeom prst="rect">
            <a:avLst>
              <a:gd name="adj" fmla="val 631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8696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combines information retrieval with language generation: instead of relying solely on a model's parametric knowledge, it fetches relevant documents at inference time and conditions the LLM on that retrieved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2651760" cy="2606040"/>
          </a:xfrm>
          <a:prstGeom prst="rect">
            <a:avLst>
              <a:gd name="adj" fmla="val 2456"/>
            </a:avLst>
          </a:prstGeom>
          <a:solidFill>
            <a:srgbClr val="152B4A"/>
          </a:solidFill>
          <a:ln w="12700">
            <a:solidFill>
              <a:srgbClr val="4895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1938528"/>
            <a:ext cx="640080" cy="640080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" y="26334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query to embedding vector → search ChromaDB for semantically similar documents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3090672"/>
            <a:ext cx="73152" cy="274320"/>
          </a:xfrm>
          <a:prstGeom prst="rect">
            <a:avLst/>
          </a:prstGeom>
          <a:solidFill>
            <a:srgbClr val="8BA3C1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2651760" cy="2606040"/>
          </a:xfrm>
          <a:prstGeom prst="rect">
            <a:avLst>
              <a:gd name="adj" fmla="val 2456"/>
            </a:avLst>
          </a:prstGeom>
          <a:solidFill>
            <a:srgbClr val="152B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938528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19272" y="26334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retrieved documents into a structured prompt template with context + question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090672"/>
            <a:ext cx="73152" cy="274320"/>
          </a:xfrm>
          <a:prstGeom prst="rect">
            <a:avLst/>
          </a:prstGeom>
          <a:solidFill>
            <a:srgbClr val="8BA3C1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74520"/>
            <a:ext cx="2651760" cy="2606040"/>
          </a:xfrm>
          <a:prstGeom prst="rect">
            <a:avLst>
              <a:gd name="adj" fmla="val 2456"/>
            </a:avLst>
          </a:prstGeom>
          <a:solidFill>
            <a:srgbClr val="152B4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938528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53912" y="26334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30175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(Flan-T5) reads the augmented prompt and produces a grounded answer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  →  No fine-tuning required  ·  Always grounded in source data  ·  Easy to update knowledge base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FiveThirtyEight NBA RAPTOR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4023360" cy="521208"/>
          </a:xfrm>
          <a:prstGeom prst="rect">
            <a:avLst>
              <a:gd name="adj" fmla="val 1052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96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FiveThirtyEight / GitHub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023360" cy="521208"/>
          </a:xfrm>
          <a:prstGeom prst="rect">
            <a:avLst>
              <a:gd name="adj" fmla="val 1052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904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490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538_historical_RAPTOR_by_player.csv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57400"/>
            <a:ext cx="4023360" cy="521208"/>
          </a:xfrm>
          <a:prstGeom prst="rect">
            <a:avLst>
              <a:gd name="adj" fmla="val 1052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084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 – 2024 seasons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4023360" cy="521208"/>
          </a:xfrm>
          <a:prstGeom prst="rect">
            <a:avLst>
              <a:gd name="adj" fmla="val 1052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679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~19,000+ player-seasons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246120"/>
            <a:ext cx="4023360" cy="521208"/>
          </a:xfrm>
          <a:prstGeom prst="rect">
            <a:avLst>
              <a:gd name="adj" fmla="val 1052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2735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273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(Robust Algorithm for Player True-impact)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841248"/>
            <a:ext cx="4069080" cy="3977640"/>
          </a:xfrm>
          <a:prstGeom prst="rect">
            <a:avLst>
              <a:gd name="adj" fmla="val 137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77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316736"/>
            <a:ext cx="3977640" cy="347472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16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13167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of the player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719072"/>
            <a:ext cx="3977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171907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season year (e.g. 2024)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121408"/>
            <a:ext cx="3977640" cy="347472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212140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abbreviation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523744"/>
            <a:ext cx="3977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237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raptor_total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52374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RAPTOR 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3977640" cy="347472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raptor_offense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292608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impact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328416"/>
            <a:ext cx="3977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328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raptor_defense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332841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impact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730752"/>
            <a:ext cx="3977640" cy="347472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307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war_total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373075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Above Replacement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133088"/>
            <a:ext cx="3977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133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36208" y="413308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played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Tabular → Text Documents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8321040" cy="658368"/>
          </a:xfrm>
          <a:prstGeom prst="rect">
            <a:avLst>
              <a:gd name="adj" fmla="val 833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77824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Vector databases store text embeddings — not CSV rows. Each row must be converted into a natural language document before embedding.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25496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Template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32504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39512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53528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8321040" cy="2395728"/>
          </a:xfrm>
          <a:prstGeom prst="rect">
            <a:avLst>
              <a:gd name="adj" fmla="val 229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Generated Document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231136"/>
            <a:ext cx="1463040" cy="256032"/>
          </a:xfrm>
          <a:prstGeom prst="rect">
            <a:avLst>
              <a:gd name="adj" fmla="val 1785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311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DOCUMENT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578608"/>
            <a:ext cx="7955280" cy="187452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2016 season, Stephen Curry played for GSW.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 Total: 12.4 | Offense: 9.1 | Defense: 3.3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 Total: 14.8 | Minutes Played: 2638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Stephen Curry had an outstanding overall RAPTOR score of 12.4,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contributing significantly to their team's success.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4690872"/>
            <a:ext cx="2606040" cy="658368"/>
          </a:xfrm>
          <a:prstGeom prst="rect">
            <a:avLst>
              <a:gd name="adj" fmla="val 833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7183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27632" y="47914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total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690872"/>
            <a:ext cx="2606040" cy="658368"/>
          </a:xfrm>
          <a:prstGeom prst="rect">
            <a:avLst>
              <a:gd name="adj" fmla="val 833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47183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62272" y="47914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player-season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690872"/>
            <a:ext cx="2606040" cy="658368"/>
          </a:xfrm>
          <a:prstGeom prst="rect">
            <a:avLst>
              <a:gd name="adj" fmla="val 833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47183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fields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96912" y="47914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document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— Sentence Transformers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8321040" cy="731520"/>
          </a:xfrm>
          <a:prstGeom prst="rect">
            <a:avLst>
              <a:gd name="adj" fmla="val 750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77824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is a dense numerical vector that captures the semantic meaning of text. Sentences with similar meanings map to nearby points in vector space — enabling semantic similarity search.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4160520" cy="2971800"/>
          </a:xfrm>
          <a:prstGeom prst="rect">
            <a:avLst>
              <a:gd name="adj" fmla="val 184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37360"/>
            <a:ext cx="4160520" cy="384048"/>
          </a:xfrm>
          <a:prstGeom prst="rect">
            <a:avLst>
              <a:gd name="adj" fmla="val 14286"/>
            </a:avLst>
          </a:prstGeom>
          <a:solidFill>
            <a:srgbClr val="2EC4B6">
              <a:alpha val="2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764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013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dimensions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013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 faster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013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01368" y="39502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quick experiments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1737360"/>
            <a:ext cx="4160520" cy="2971800"/>
          </a:xfrm>
          <a:prstGeom prst="rect">
            <a:avLst>
              <a:gd name="adj" fmla="val 1846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737360"/>
            <a:ext cx="4160520" cy="384048"/>
          </a:xfrm>
          <a:prstGeom prst="rect">
            <a:avLst>
              <a:gd name="adj" fmla="val 14286"/>
            </a:avLst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764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all-mpnet-base-v2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194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dimensions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2633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 slower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3511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MB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39502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39502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best retrieval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text  →  Tokenizer  →  Transformer  →  Mean Pooling  →  L2 Normalize  →  Vector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Vector Store &amp; Similarity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4846320" cy="530352"/>
          </a:xfrm>
          <a:prstGeom prst="rect">
            <a:avLst>
              <a:gd name="adj" fmla="val 1034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219456" cy="219456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9611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persistent local vector 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846320" cy="530352"/>
          </a:xfrm>
          <a:prstGeom prst="rect">
            <a:avLst>
              <a:gd name="adj" fmla="val 1034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219456" cy="219456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9047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alongside metadata and raw 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57400"/>
            <a:ext cx="4846320" cy="530352"/>
          </a:xfrm>
          <a:prstGeom prst="rect">
            <a:avLst>
              <a:gd name="adj" fmla="val 1034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94560"/>
            <a:ext cx="219456" cy="219456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8483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for approximate nearest-neighbour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4846320" cy="530352"/>
          </a:xfrm>
          <a:prstGeom prst="rect">
            <a:avLst>
              <a:gd name="adj" fmla="val 1034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88920"/>
            <a:ext cx="219456" cy="219456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67919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metric for semantic matching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246120"/>
            <a:ext cx="4846320" cy="530352"/>
          </a:xfrm>
          <a:prstGeom prst="rect">
            <a:avLst>
              <a:gd name="adj" fmla="val 1034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83280"/>
            <a:ext cx="219456" cy="219456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73552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metadata filtering (e.g. filter by season or team)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841248"/>
            <a:ext cx="3291840" cy="3931920"/>
          </a:xfrm>
          <a:prstGeom prst="rect">
            <a:avLst>
              <a:gd name="adj" fmla="val 166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8869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1920240"/>
            <a:ext cx="329184" cy="3291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2240280"/>
            <a:ext cx="256032" cy="25603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1 ★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2331720"/>
            <a:ext cx="256032" cy="25603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606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2 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40880" y="1783080"/>
            <a:ext cx="219456" cy="219456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020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3 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0" y="2834640"/>
            <a:ext cx="182880" cy="182880"/>
          </a:xfrm>
          <a:prstGeom prst="ellipse">
            <a:avLst/>
          </a:prstGeom>
          <a:solidFill>
            <a:srgbClr val="8BA3C1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035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3017520"/>
            <a:ext cx="182880" cy="182880"/>
          </a:xfrm>
          <a:prstGeom prst="ellipse">
            <a:avLst/>
          </a:prstGeom>
          <a:solidFill>
            <a:srgbClr val="8BA3C1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47688" y="2066544"/>
            <a:ext cx="274320" cy="1828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6248" y="2084832"/>
            <a:ext cx="228600" cy="1828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nearest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returned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— google/flan-t5-base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5029200" cy="1417320"/>
          </a:xfrm>
          <a:prstGeom prst="rect">
            <a:avLst>
              <a:gd name="adj" fmla="val 387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869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google/flan-t5-base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transformer fine-tuned on 1,800+ NLP tasks via instruction tuning (FLAN = Finetuned Language Net). 250M parameters.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4160520" cy="822960"/>
          </a:xfrm>
          <a:prstGeom prst="rect">
            <a:avLst>
              <a:gd name="adj" fmla="val 666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706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— accessible in any environment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377440"/>
            <a:ext cx="4160520" cy="822960"/>
          </a:xfrm>
          <a:prstGeom prst="rect">
            <a:avLst>
              <a:gd name="adj" fmla="val 666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4231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5232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Instruction-following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85232" y="2706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to respond to structured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4160520" cy="822960"/>
          </a:xfrm>
          <a:prstGeom prst="rect">
            <a:avLst>
              <a:gd name="adj" fmla="val 666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383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3666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params vs GPT-3's 175B — fast local inference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337560"/>
            <a:ext cx="4160520" cy="822960"/>
          </a:xfrm>
          <a:prstGeom prst="rect">
            <a:avLst>
              <a:gd name="adj" fmla="val 666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3832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85232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85232" y="3666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available on Hugging Face 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841248"/>
            <a:ext cx="3566160" cy="1417320"/>
          </a:xfrm>
          <a:prstGeom prst="rect">
            <a:avLst>
              <a:gd name="adj" fmla="val 387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8869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Encoder-Decoder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298448"/>
            <a:ext cx="3154680" cy="320040"/>
          </a:xfrm>
          <a:prstGeom prst="rect">
            <a:avLst>
              <a:gd name="adj" fmla="val 1714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298448"/>
            <a:ext cx="73152" cy="32004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29844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664208"/>
            <a:ext cx="3154680" cy="320040"/>
          </a:xfrm>
          <a:prstGeom prst="rect">
            <a:avLst>
              <a:gd name="adj" fmla="val 1714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664208"/>
            <a:ext cx="73152" cy="32004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66420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Encoder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2029968"/>
            <a:ext cx="3154680" cy="320040"/>
          </a:xfrm>
          <a:prstGeom prst="rect">
            <a:avLst>
              <a:gd name="adj" fmla="val 1714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2029968"/>
            <a:ext cx="73152" cy="3200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02996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395728"/>
            <a:ext cx="3154680" cy="320040"/>
          </a:xfrm>
          <a:prstGeom prst="rect">
            <a:avLst>
              <a:gd name="adj" fmla="val 1714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2395728"/>
            <a:ext cx="731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3957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Decoder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2761488"/>
            <a:ext cx="3154680" cy="320040"/>
          </a:xfrm>
          <a:prstGeom prst="rect">
            <a:avLst>
              <a:gd name="adj" fmla="val 17143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2761488"/>
            <a:ext cx="73152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761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4 Templates Compared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86968"/>
            <a:ext cx="4160520" cy="1938528"/>
          </a:xfrm>
          <a:prstGeom prst="rect">
            <a:avLst>
              <a:gd name="adj" fmla="val 283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86968"/>
            <a:ext cx="4160520" cy="347472"/>
          </a:xfrm>
          <a:prstGeom prst="rect">
            <a:avLst>
              <a:gd name="adj" fmla="val 15789"/>
            </a:avLst>
          </a:prstGeom>
          <a:solidFill>
            <a:srgbClr val="4895EF">
              <a:alpha val="30000"/>
            </a:srgbClr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86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9235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1208" y="1307592"/>
            <a:ext cx="3913632" cy="1417320"/>
          </a:xfrm>
          <a:prstGeom prst="rect">
            <a:avLst>
              <a:gd name="adj" fmla="val 2581"/>
            </a:avLst>
          </a:prstGeom>
          <a:solidFill>
            <a:srgbClr val="0914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62456"/>
            <a:ext cx="3767328" cy="1307592"/>
          </a:xfrm>
          <a:prstGeom prst="rect">
            <a:avLst/>
          </a:prstGeom>
          <a:noFill/>
          <a:ln/>
        </p:spPr>
        <p:txBody>
          <a:bodyPr wrap="square" lIns="38100" tIns="3810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89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9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{docs}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9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&lt;/context&gt;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9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&lt;question&gt;{q}&lt;/question&gt;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95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886968"/>
            <a:ext cx="4160520" cy="1938528"/>
          </a:xfrm>
          <a:prstGeom prst="rect">
            <a:avLst>
              <a:gd name="adj" fmla="val 283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86968"/>
            <a:ext cx="4160520" cy="347472"/>
          </a:xfrm>
          <a:prstGeom prst="rect">
            <a:avLst>
              <a:gd name="adj" fmla="val 15789"/>
            </a:avLst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886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9235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10328" y="1307592"/>
            <a:ext cx="3913632" cy="1417320"/>
          </a:xfrm>
          <a:prstGeom prst="rect">
            <a:avLst>
              <a:gd name="adj" fmla="val 2581"/>
            </a:avLst>
          </a:prstGeom>
          <a:solidFill>
            <a:srgbClr val="0914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362456"/>
            <a:ext cx="3767328" cy="1307592"/>
          </a:xfrm>
          <a:prstGeom prst="rect">
            <a:avLst/>
          </a:prstGeom>
          <a:noFill/>
          <a:ln/>
        </p:spPr>
        <p:txBody>
          <a:bodyPr wrap="square" lIns="38100" tIns="3810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{docs}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{q}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71800"/>
            <a:ext cx="4160520" cy="1938528"/>
          </a:xfrm>
          <a:prstGeom prst="rect">
            <a:avLst>
              <a:gd name="adj" fmla="val 283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71800"/>
            <a:ext cx="4160520" cy="347472"/>
          </a:xfrm>
          <a:prstGeom prst="rect">
            <a:avLst>
              <a:gd name="adj" fmla="val 15789"/>
            </a:avLst>
          </a:prstGeom>
          <a:solidFill>
            <a:srgbClr val="F4A261">
              <a:alpha val="3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0083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208" y="3392424"/>
            <a:ext cx="3913632" cy="1417320"/>
          </a:xfrm>
          <a:prstGeom prst="rect">
            <a:avLst>
              <a:gd name="adj" fmla="val 2581"/>
            </a:avLst>
          </a:prstGeom>
          <a:solidFill>
            <a:srgbClr val="0914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47288"/>
            <a:ext cx="3767328" cy="1307592"/>
          </a:xfrm>
          <a:prstGeom prst="rect">
            <a:avLst/>
          </a:prstGeom>
          <a:noFill/>
          <a:ln/>
        </p:spPr>
        <p:txBody>
          <a:bodyPr wrap="square" lIns="38100" tIns="3810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NBA analyst.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Facts: {docs}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{q}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4160520" cy="1938528"/>
          </a:xfrm>
          <a:prstGeom prst="rect">
            <a:avLst>
              <a:gd name="adj" fmla="val 2830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971800"/>
            <a:ext cx="4160520" cy="347472"/>
          </a:xfrm>
          <a:prstGeom prst="rect">
            <a:avLst>
              <a:gd name="adj" fmla="val 15789"/>
            </a:avLst>
          </a:prstGeom>
          <a:solidFill>
            <a:srgbClr val="4CC9F0">
              <a:alpha val="3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30083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10328" y="3392424"/>
            <a:ext cx="3913632" cy="1417320"/>
          </a:xfrm>
          <a:prstGeom prst="rect">
            <a:avLst>
              <a:gd name="adj" fmla="val 2581"/>
            </a:avLst>
          </a:prstGeom>
          <a:solidFill>
            <a:srgbClr val="0914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447288"/>
            <a:ext cx="3767328" cy="1307592"/>
          </a:xfrm>
          <a:prstGeom prst="rect">
            <a:avLst/>
          </a:prstGeom>
          <a:noFill/>
          <a:ln/>
        </p:spPr>
        <p:txBody>
          <a:bodyPr wrap="square" lIns="38100" tIns="3810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{docs}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{q}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step-by-step,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answer: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234440"/>
            <a:ext cx="393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4895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0088" y="1234440"/>
            <a:ext cx="393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07408" y="1234440"/>
            <a:ext cx="393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2628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24728" y="1234440"/>
            <a:ext cx="393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42048" y="1234440"/>
            <a:ext cx="393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60920" y="1097280"/>
            <a:ext cx="1298448" cy="841248"/>
          </a:xfrm>
          <a:prstGeom prst="rect">
            <a:avLst>
              <a:gd name="adj" fmla="val 7609"/>
            </a:avLst>
          </a:prstGeom>
          <a:solidFill>
            <a:srgbClr val="152B4A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1097280"/>
            <a:ext cx="1298448" cy="8412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2212848"/>
            <a:ext cx="2194560" cy="621792"/>
          </a:xfrm>
          <a:prstGeom prst="rect">
            <a:avLst>
              <a:gd name="adj" fmla="val 10294"/>
            </a:avLst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2128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72984" y="192024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78040" y="2212848"/>
            <a:ext cx="1920240" cy="621792"/>
          </a:xfrm>
          <a:prstGeom prst="rect">
            <a:avLst>
              <a:gd name="adj" fmla="val 10294"/>
            </a:avLst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2128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017520"/>
            <a:ext cx="8321040" cy="1737360"/>
          </a:xfrm>
          <a:prstGeom prst="rect">
            <a:avLst>
              <a:gd name="adj" fmla="val 3158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063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34015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(MiniLM or MPNet)  →  384 or 768-dim vector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8800" y="37033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HNSW index  ·  Cosine similarity  ·  k = 1 to 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4005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28800" y="400507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inserted into 1 of 4 prompt templates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4306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28800" y="430682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  ·  max_new_tokens=256  ·  CPU inference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Conversational Web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5303520" cy="3977640"/>
          </a:xfrm>
          <a:prstGeom prst="rect">
            <a:avLst>
              <a:gd name="adj" fmla="val 137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32688"/>
            <a:ext cx="5120640" cy="3703320"/>
          </a:xfrm>
          <a:prstGeom prst="rect">
            <a:avLst>
              <a:gd name="adj" fmla="val 1975"/>
            </a:avLst>
          </a:prstGeom>
          <a:solidFill>
            <a:srgbClr val="091422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24128"/>
            <a:ext cx="493776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424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🏀  NBA RAG Assistant  —  Gradio Interface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4937760" cy="548640"/>
          </a:xfrm>
          <a:prstGeom prst="rect">
            <a:avLst>
              <a:gd name="adj" fmla="val 8333"/>
            </a:avLst>
          </a:prstGeom>
          <a:solidFill>
            <a:srgbClr val="0D2035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813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Who had the highest RAPTOR score in 2016?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066544"/>
            <a:ext cx="4937760" cy="777240"/>
          </a:xfrm>
          <a:prstGeom prst="rect">
            <a:avLst>
              <a:gd name="adj" fmla="val 5882"/>
            </a:avLst>
          </a:prstGeom>
          <a:solidFill>
            <a:srgbClr val="11224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Based on the retrieved context, Stephen Curry had the highest RAPTOR score in the 2016 season with a total of 12.4, reflecting outstanding offensive contribution.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907792"/>
            <a:ext cx="4937760" cy="365760"/>
          </a:xfrm>
          <a:prstGeom prst="rect">
            <a:avLst>
              <a:gd name="adj" fmla="val 12500"/>
            </a:avLst>
          </a:prstGeom>
          <a:solidFill>
            <a:srgbClr val="1E2D42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NBA stats...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935224"/>
            <a:ext cx="594360" cy="310896"/>
          </a:xfrm>
          <a:prstGeom prst="rect">
            <a:avLst>
              <a:gd name="adj" fmla="val 11765"/>
            </a:avLst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3522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27632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Template: Expert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MPNet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97880" y="84124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6752" y="97840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868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k via slider (1–10)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138988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152704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prompt templates selectable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193852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16752" y="207568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embedding models toggleable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48716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6752" y="262432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 (multi-turn)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303580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16752" y="317296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latency displayed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3584448"/>
            <a:ext cx="2834640" cy="484632"/>
          </a:xfrm>
          <a:prstGeom prst="rect">
            <a:avLst>
              <a:gd name="adj" fmla="val 11321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16752" y="3721608"/>
            <a:ext cx="182880" cy="182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locally via Gradio share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Embedding Model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841248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023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all-MiniLM-L6-v2     Orange = all-mpnet-base-v2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97880" y="841248"/>
            <a:ext cx="2834640" cy="3566160"/>
          </a:xfrm>
          <a:prstGeom prst="rect">
            <a:avLst>
              <a:gd name="adj" fmla="val 193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886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Comparison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280160"/>
            <a:ext cx="2743200" cy="384048"/>
          </a:xfrm>
          <a:prstGeom prst="rect">
            <a:avLst/>
          </a:prstGeom>
          <a:solidFill>
            <a:srgbClr val="4895E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280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85432" y="1280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81544" y="1280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1700784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7007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time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85432" y="17007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81544" y="17007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ms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2121408"/>
            <a:ext cx="2743200" cy="384048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85432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81544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0" y="2542032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2542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85432" y="2542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81544" y="2542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43600" y="2962656"/>
            <a:ext cx="2743200" cy="384048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29626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@k=3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885432" y="29626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1.85 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81544" y="29626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1.87 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897880" y="4526280"/>
            <a:ext cx="2834640" cy="502920"/>
          </a:xfrm>
          <a:prstGeom prst="rect">
            <a:avLst>
              <a:gd name="adj" fmla="val 1090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035040" y="455371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MPNet achieves ~8pp higher Hit Rate with minimal latency cost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Prompt Template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841248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841248"/>
            <a:ext cx="3017520" cy="3730752"/>
          </a:xfrm>
          <a:prstGeom prst="rect">
            <a:avLst>
              <a:gd name="adj" fmla="val 1818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886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(manual)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280160"/>
            <a:ext cx="2880360" cy="402336"/>
          </a:xfrm>
          <a:prstGeom prst="rect">
            <a:avLst/>
          </a:prstGeom>
          <a:solidFill>
            <a:srgbClr val="4895E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2801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59168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74736" y="12801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719072"/>
            <a:ext cx="2880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7190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59168" y="1719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74736" y="17190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157984"/>
            <a:ext cx="2880360" cy="402336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1579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59168" y="21579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74736" y="21579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2596896"/>
            <a:ext cx="2880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596896"/>
            <a:ext cx="12344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59168" y="25968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74736" y="25968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60720" y="3035808"/>
            <a:ext cx="2880360" cy="402336"/>
          </a:xfrm>
          <a:prstGeom prst="rect">
            <a:avLst/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0358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59168" y="30358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174736" y="30358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1480" y="4206240"/>
            <a:ext cx="8321040" cy="566928"/>
          </a:xfrm>
          <a:prstGeom prst="rect">
            <a:avLst>
              <a:gd name="adj" fmla="val 967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94360" y="42336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template produces the highest quality answers  ·  CoT adds latency without clear quality gain  ·  Concise is fastest but loses nuance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Impact of k on Hit Rate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841248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868680"/>
            <a:ext cx="2194560" cy="1188720"/>
          </a:xfrm>
          <a:prstGeom prst="rect">
            <a:avLst>
              <a:gd name="adj" fmla="val 461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37960" y="868680"/>
            <a:ext cx="64008" cy="1188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56832" y="896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56832" y="124358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trade-off: high hit rate without excessive context noise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2194560"/>
            <a:ext cx="2194560" cy="1188720"/>
          </a:xfrm>
          <a:prstGeom prst="rect">
            <a:avLst>
              <a:gd name="adj" fmla="val 461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94560"/>
            <a:ext cx="6400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6832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56832" y="25694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retrieval (97%) but risks diluting context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3520440"/>
            <a:ext cx="2194560" cy="1188720"/>
          </a:xfrm>
          <a:prstGeom prst="rect">
            <a:avLst>
              <a:gd name="adj" fmla="val 4615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3520440"/>
            <a:ext cx="6400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3547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56832" y="389534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risky — misses correct doc in ~40–50% of queries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34747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8321040" cy="758952"/>
          </a:xfrm>
          <a:prstGeom prst="rect">
            <a:avLst>
              <a:gd name="adj" fmla="val 722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566928" cy="758952"/>
          </a:xfrm>
          <a:prstGeom prst="rect">
            <a:avLst>
              <a:gd name="adj" fmla="val 8065"/>
            </a:avLst>
          </a:prstGeom>
          <a:solidFill>
            <a:srgbClr val="F4A261">
              <a:alpha val="3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566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9692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MPNet outperforms MiniLM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2618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embeddings achieve 97% Hit Rate @k=10 vs 91% for MiniLM. The quality gain outweighs the 16ms extra embedding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8321040" cy="758952"/>
          </a:xfrm>
          <a:prstGeom prst="rect">
            <a:avLst>
              <a:gd name="adj" fmla="val 722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55648"/>
            <a:ext cx="566928" cy="758952"/>
          </a:xfrm>
          <a:prstGeom prst="rect">
            <a:avLst>
              <a:gd name="adj" fmla="val 8065"/>
            </a:avLst>
          </a:prstGeom>
          <a:solidFill>
            <a:srgbClr val="4895EF">
              <a:alpha val="30000"/>
            </a:srgbClr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55648"/>
            <a:ext cx="566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18105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prompt yields best answers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1031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an NBA analyst role produces more specific, accurate responses. Role-play prompting is highly effective for domain Q&amp;A.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8321040" cy="758952"/>
          </a:xfrm>
          <a:prstGeom prst="rect">
            <a:avLst>
              <a:gd name="adj" fmla="val 722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96896"/>
            <a:ext cx="566928" cy="758952"/>
          </a:xfrm>
          <a:prstGeom prst="rect">
            <a:avLst>
              <a:gd name="adj" fmla="val 8065"/>
            </a:avLst>
          </a:prstGeom>
          <a:solidFill>
            <a:srgbClr val="4CC9F0">
              <a:alpha val="3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96896"/>
            <a:ext cx="566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26517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is the optimal retrieval depth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9443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k improves recall but adds noise to the context. k=3 maximises answer quality while keeping latency under 2 seconds.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8321040" cy="758952"/>
          </a:xfrm>
          <a:prstGeom prst="rect">
            <a:avLst>
              <a:gd name="adj" fmla="val 722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38144"/>
            <a:ext cx="566928" cy="758952"/>
          </a:xfrm>
          <a:prstGeom prst="rect">
            <a:avLst>
              <a:gd name="adj" fmla="val 8065"/>
            </a:avLst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566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34930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completely eliminates hallucination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7856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generated answers are grounded in retrieved documents. No statistics were fabricated — every claim traces back to RAPTOR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79392"/>
            <a:ext cx="8321040" cy="758952"/>
          </a:xfrm>
          <a:prstGeom prst="rect">
            <a:avLst>
              <a:gd name="adj" fmla="val 722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279392"/>
            <a:ext cx="566928" cy="758952"/>
          </a:xfrm>
          <a:prstGeom prst="rect">
            <a:avLst>
              <a:gd name="adj" fmla="val 8065"/>
            </a:avLst>
          </a:prstGeom>
          <a:solidFill>
            <a:srgbClr val="E63946">
              <a:alpha val="3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79392"/>
            <a:ext cx="566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992" y="43342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struggles with complex multi-hop queries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6268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requiring reasoning across multiple seasons or comparisons between players expose the limits of a 250M parameter model.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4895EF">
              <a:alpha val="10000"/>
            </a:srgbClr>
          </a:solidFill>
          <a:ln w="12700">
            <a:solidFill>
              <a:srgbClr val="4895E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83210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77824"/>
            <a:ext cx="4069080" cy="2450592"/>
          </a:xfrm>
          <a:prstGeom prst="rect">
            <a:avLst>
              <a:gd name="adj" fmla="val 223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77824"/>
            <a:ext cx="4069080" cy="365760"/>
          </a:xfrm>
          <a:prstGeom prst="rect">
            <a:avLst>
              <a:gd name="adj" fmla="val 15000"/>
            </a:avLst>
          </a:prstGeom>
          <a:solidFill>
            <a:srgbClr val="2EC4B6">
              <a:alpha val="2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778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Works Well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316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pipeline — no cloud or API keys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10512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accuracy with MPNet + k=3 (Hit Rate 80%)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31136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579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prompt produces analyst-quality answers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78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interface: intuitive, adjustable, shareable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77824"/>
            <a:ext cx="4069080" cy="2450592"/>
          </a:xfrm>
          <a:prstGeom prst="rect">
            <a:avLst>
              <a:gd name="adj" fmla="val 2239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77824"/>
            <a:ext cx="4069080" cy="365760"/>
          </a:xfrm>
          <a:prstGeom prst="rect">
            <a:avLst>
              <a:gd name="adj" fmla="val 15000"/>
            </a:avLst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778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408176"/>
            <a:ext cx="12801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316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struggles with multi-hop reasoning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828800"/>
            <a:ext cx="12801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re-ranking step — retrieval order matters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249424"/>
            <a:ext cx="12801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579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memory across sessions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70048"/>
            <a:ext cx="128016" cy="1280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78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only ~10 manual queries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474720"/>
            <a:ext cx="8321040" cy="1444752"/>
          </a:xfrm>
          <a:prstGeom prst="rect">
            <a:avLst>
              <a:gd name="adj" fmla="val 3797"/>
            </a:avLst>
          </a:prstGeom>
          <a:solidFill>
            <a:srgbClr val="152B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474720"/>
            <a:ext cx="8321040" cy="347472"/>
          </a:xfrm>
          <a:prstGeom prst="rect">
            <a:avLst>
              <a:gd name="adj" fmla="val 15789"/>
            </a:avLst>
          </a:prstGeom>
          <a:solidFill>
            <a:srgbClr val="4895EF">
              <a:alpha val="25000"/>
            </a:srgbClr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474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LLM: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41513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Flan-T5 with Llama-3 or Mistral-7B for richer reasoning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0" y="41513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cross-encoder re-ranker to improve top-k ordering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41513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conversation history to answer follow-up questions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95744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Eval: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95744" y="415137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benchmark with 100+ labelled query-answer pairs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System — Deep Learning Project</dc:title>
  <dc:subject>PptxGenJS Presentation</dc:subject>
  <dc:creator>Jules</dc:creator>
  <cp:lastModifiedBy>Jules</cp:lastModifiedBy>
  <cp:revision>1</cp:revision>
  <dcterms:created xsi:type="dcterms:W3CDTF">2026-04-21T18:41:05Z</dcterms:created>
  <dcterms:modified xsi:type="dcterms:W3CDTF">2026-04-21T18:41:05Z</dcterms:modified>
</cp:coreProperties>
</file>